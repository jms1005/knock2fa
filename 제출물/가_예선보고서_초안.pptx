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241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버튼 시퀀스 · 노크 리듬 기반</a:t>
            </a:r>
          </a:p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저비용 이중 인증(2FA) 잠금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52044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C4B5FD"/>
                </a:solidFill>
                <a:latin typeface="맑은 고딕"/>
                <a:ea typeface="맑은 고딕"/>
                <a:cs typeface="맑은 고딕"/>
              </a:rPr>
              <a:t>추가 부품 1개(압전 디스크)로 '지식 + 행동' 두 계층을 구현한다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ATmega328P · Bare-Metal · 라이브러리 미사용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53212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2026 COSS 차세대반도체 MCU 응용 경진대회 (대학생부)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팀명 / 소속 / 성명 기입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한 장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2560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108813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무엇을 만들었나</a:t>
            </a:r>
          </a:p>
          <a:p>
            <a:pPr algn="l" lvl="1">
              <a:spcAft>
                <a:spcPts val="500"/>
              </a:spcAft>
            </a:pPr>
            <a:r>
              <a:rPr sz="145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버튼 4개를 정해진 순서로 누르는 '지식' 인증과, 표면을 두드리는 리듬을 압전 소자로 재는 '행동' 인증을 결합한 잠금 장치</a:t>
            </a:r>
          </a:p>
          <a:p>
            <a:pPr algn="l" lvl="1">
              <a:spcAft>
                <a:spcPts val="500"/>
              </a:spcAft>
            </a:pPr>
            <a:r>
              <a:rPr sz="145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두 인증이 서로 다른 주변장치에서 독립적으로 얻어지고, 두 결과가 같은 사용자를 가리켜야만 해제된다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왜 의미가 있나</a:t>
            </a:r>
          </a:p>
          <a:p>
            <a:pPr algn="l" lvl="1">
              <a:spcAft>
                <a:spcPts val="500"/>
              </a:spcAft>
            </a:pPr>
            <a:r>
              <a:rPr sz="145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PIN 키패드는 어깨너머로 보면 뚫린다. 지문 모듈은 원가가 크다. 그 사이를 부품 하나로 메운다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무엇이 어려웠나</a:t>
            </a:r>
          </a:p>
          <a:p>
            <a:pPr algn="l" lvl="1">
              <a:spcAft>
                <a:spcPts val="500"/>
              </a:spcAft>
            </a:pPr>
            <a:r>
              <a:rPr sz="145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리듬 인증은 '간격의 재현성'이 전부다. 측정 지터를 없애기 위해 아날로그 비교기 출력을 Timer1 입력 캡처에 직결했다 (분해능 500ns)</a:t>
            </a:r>
          </a:p>
          <a:p>
            <a:pPr algn="l" lvl="1">
              <a:spcAft>
                <a:spcPts val="500"/>
              </a:spcAft>
            </a:pPr>
            <a:r>
              <a:rPr sz="145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압전 소자의 공진(링잉)으로 노크 1회가 이벤트 여러 개로 잡히는 문제, 템포가 달라지면 본인도 거부되는 문제를 각각 해결했다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257800"/>
            <a:ext cx="10881360" cy="1051560"/>
          </a:xfrm>
          <a:prstGeom prst="rect">
            <a:avLst/>
          </a:prstGeom>
          <a:solidFill>
            <a:srgbClr val="FFFBEB"/>
          </a:solidFill>
          <a:ln w="12700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5358384"/>
            <a:ext cx="10479024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713F12"/>
                </a:solidFill>
                <a:latin typeface="맑은 고딕"/>
                <a:ea typeface="맑은 고딕"/>
                <a:cs typeface="맑은 고딕"/>
              </a:rPr>
              <a:t>핵심 수치 — 사용 핀 10개 / Flash 8,908B (27.2%) / SRAM 110B (5.4%) / EEPROM 40B / 신규 부품 4종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713F12"/>
                </a:solidFill>
                <a:latin typeface="맑은 고딕"/>
                <a:ea typeface="맑은 고딕"/>
                <a:cs typeface="맑은 고딕"/>
              </a:rPr>
              <a:t>전 구간 레지스터 직접 제어. 부동소수점 미사용으로 소프트 FP 라이브러리(1.5~3KB)가 링크되지 않는다.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문제의식 — 저비용 잠금장치의 한계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2560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독창성 · 효용성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81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방식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한계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원가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버튼 PIN 키패드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 순간을 보거나 버튼 마모 흔적만으로 순서가 유추됨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매우 낮음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RFID 카드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카드 분실·복제 시 그대로 무력화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낮음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지문 / 얼굴 인식 모듈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정확하지만 모듈 원가가 시스템 원가를 지배. 8비트 MCU 로는 영상 처리 불가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높음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7C3AE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 제안 (순서 + 리듬)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7C3AE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순서를 알아도 리듬을 재현하지 못하면 열리지 않음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7C3AE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매우 낮음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85800" y="4160520"/>
            <a:ext cx="10881360" cy="1143000"/>
          </a:xfrm>
          <a:prstGeom prst="rect">
            <a:avLst/>
          </a:prstGeom>
          <a:solidFill>
            <a:srgbClr val="FFFBEB"/>
          </a:solidFill>
          <a:ln w="12700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4261104"/>
            <a:ext cx="10479024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713F12"/>
                </a:solidFill>
                <a:latin typeface="맑은 고딕"/>
                <a:ea typeface="맑은 고딕"/>
                <a:cs typeface="맑은 고딕"/>
              </a:rPr>
              <a:t>핵심 논점 — '관찰되지 않는다'가 아니라 '관찰되어도 재현되지 않는다'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713F12"/>
                </a:solidFill>
                <a:latin typeface="맑은 고딕"/>
                <a:ea typeface="맑은 고딕"/>
                <a:cs typeface="맑은 고딕"/>
              </a:rPr>
              <a:t>노크 리듬은 소리가 나므로 오히려 관찰하기 쉽다. 방어력의 근거는 은닉이 아니라 재현 난이도이며, 이것을 실험 4(타인 모사 시도)에서 정량적으로 증명한다.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5440680"/>
            <a:ext cx="10881360" cy="105156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5541264"/>
            <a:ext cx="10479024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선행 사례와의 차이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노크 인식 잠금장치는 공개 사례가 있다. 본 작품은 (1) 지식 인증과 결합해 2FA 로 만들고, (2) 두 계층이 같은 사용자를 가리킬 것을 요구하며, (3) 임계값을 사용자 재현성에서 자동 유도하고, (4) 전원 차단 공격까지 대비한 점이 다르다.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제안 — 서로 다른 성격의 증거 두 가지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2560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독창성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1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1단계 · 지식 (Knowledge)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2단계 · 행동 (Inherence)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등록된 버튼 4개를 정해진 순서로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표면을 두드리는 리듬 (간격 패턴)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물리 채널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디지털 GPIO (PD2~PD5)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아날로그 비교기 + ADC (PD7 / PC0)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순서 일치 여부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정규화 벡터의 최근접 중심점 거리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7C3AE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공격 시나리오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7C3AE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어깨너머로 순서 노출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7C3AE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소리를 듣고 리듬 모방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7C3AE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7C3AE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리듬이 달라 거부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7C3AE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순서를 몰라 거부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85800" y="4892040"/>
            <a:ext cx="10881360" cy="96012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4992624"/>
            <a:ext cx="10479024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두 계층은 AND 조건이 아니라 '같은 사용자를 가리켜야 한다'는 더 강한 조건으로 결합된다.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사용자 A 의 순서와 사용자 B 의 리듬을 조합해도 통과하지 못한다.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시스템의 기능과 동작 원리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2560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요강 4-가-1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108813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압전 효과 — 왜 노크를 전압으로 잴 수 있나</a:t>
            </a:r>
          </a:p>
          <a:p>
            <a:pPr algn="l" lvl="1">
              <a:spcAft>
                <a:spcPts val="500"/>
              </a:spcAft>
            </a:pPr>
            <a:r>
              <a:rPr sz="145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압전 디스크는 기계적 충격을 받으면 순간적으로 전압을 만든다. 이 전압이 내부 1.1V 밴드갭 기준을 넘는 순간을 '노크 이벤트'로 본다.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리듬의 수학적 표현</a:t>
            </a:r>
          </a:p>
          <a:p>
            <a:pPr algn="l" lvl="1">
              <a:spcAft>
                <a:spcPts val="500"/>
              </a:spcAft>
            </a:pPr>
            <a:r>
              <a:rPr sz="145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노크 4회 → 간격 3개 [t1, t2, t3] → 총 길이로 나눈 비율 벡터 → 등록된 중심점과의 제곱거리 비교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등록 · 인증 흐름</a:t>
            </a:r>
          </a:p>
          <a:p>
            <a:pPr algn="l" lvl="1">
              <a:spcAft>
                <a:spcPts val="500"/>
              </a:spcAft>
            </a:pPr>
            <a:r>
              <a:rPr sz="145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등록: 순서 4자리 입력 → 같은 리듬 5회 반복 → 평균이 중심점, 흩어짐이 임계값</a:t>
            </a:r>
          </a:p>
          <a:p>
            <a:pPr algn="l" lvl="1">
              <a:spcAft>
                <a:spcPts val="500"/>
              </a:spcAft>
            </a:pPr>
            <a:r>
              <a:rPr sz="145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인증: 순서 입력 → 실패 카운터 선증가 → 노크 수신 → 정규화 → 분류 → 두 결과가 같은 사용자면 해제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257800"/>
            <a:ext cx="10881360" cy="1051560"/>
          </a:xfrm>
          <a:prstGeom prst="rect">
            <a:avLst/>
          </a:prstGeom>
          <a:solidFill>
            <a:srgbClr val="FFFBEB"/>
          </a:solidFill>
          <a:ln w="12700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5358384"/>
            <a:ext cx="10479024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713F12"/>
                </a:solidFill>
                <a:latin typeface="맑은 고딕"/>
                <a:ea typeface="맑은 고딕"/>
                <a:cs typeface="맑은 고딕"/>
              </a:rPr>
              <a:t>동작 조건 — 노크 간격 40ms 이상, 전체 연주 길이 150ms ~ 5,000ms, 노크 진폭 ADC 70 이상 (≈1.37V)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713F12"/>
                </a:solidFill>
                <a:latin typeface="맑은 고딕"/>
                <a:ea typeface="맑은 고딕"/>
                <a:cs typeface="맑은 고딕"/>
              </a:rPr>
              <a:t>이 범위를 벗어난 입력은 분류기에 들어가기 전에 거부된다.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시스템 블록도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2560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요강 4-가-1 · 4-가-2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pic>
        <p:nvPicPr>
          <p:cNvPr id="7" name="Picture 6" descr="fig1_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0"/>
            <a:ext cx="11064240" cy="63434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MCU 및 부품 선정 근거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2560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요강 4-가-2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1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선택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대안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선정 이유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7C3AE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ATmega328P (16MHz)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STM32F103 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요강 허용 MCU. 8비트로도 충분한 연산량이며 원가·소비전력이 낮다. 필요한 주변장치(비교기+입력캡처)를 모두 내장한다.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7C3AE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압전 디스크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지문 모듈, 마이크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부품 1개로 행동 인증을 추가. 광학 정렬·차광 같은 제약이 없고 표면에 붙이기만 하면 된다.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7C3AE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비교기 + Timer1 입력 캡처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ADC 폴링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ICR1 래치가 하드웨어라 ISR 지연이 측정값에 섞이지 않는다. 분해능 500ns.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 1.1V 밴드갭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분압 기준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부품 추가 없이 전원·온도 변동에 둔감한 기준을 얻는다.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SSD1306 OLED (I2C)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16x2 문자 LCD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핀 2개로 등록 절차 안내가 가능. 기존 드라이버를 그대로 재사용.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핀 배정과 회로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2560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요강 4-가-2 · 4-가-4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pic>
        <p:nvPicPr>
          <p:cNvPr id="7" name="Picture 6" descr="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6154502" cy="4892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778240" y="1234440"/>
            <a:ext cx="3200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사용 핀 10개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PD2~PD5  버튼 4개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PD7 (AIN1)  피에조 — 시각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PC0 (ADC0)  피에조 — 진폭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PC4/PC5  OLED I2C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PB1  액추에이터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PD0/PD1  UART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핵심 배선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피에조 노드에서 선을 두 가닥 뽑아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PD7 과 PC0 에 각각 연결한다.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ACME=0 이어야 비교기와 ADC 를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동시에 쓸 수 있기 때문이다.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>1MΩ 블리드 저항이 없으면 압전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전하가 빠지지 못해 두 번째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노크부터 문턱을 넘지 못한다.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프로그램 흐름 — 인증 상태 기계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2560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요강 4-가-2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pic>
        <p:nvPicPr>
          <p:cNvPr id="7" name="Picture 6" descr="fig2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43000"/>
            <a:ext cx="11064240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설계 1 — 왜 ADC 폴링이 아니라 하드웨어 캡처인가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8778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리듬 인증은 간격의 재현성이 전부이므로 측정 지터를 없애야 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0" y="2560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난이도 · 레지스터 직접 제어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508760"/>
            <a:ext cx="5486400" cy="3246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" y="1600200"/>
            <a:ext cx="5193792" cy="306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A78BFA"/>
                </a:solidFill>
                <a:latin typeface="맑은 고딕"/>
                <a:ea typeface="맑은 고딕"/>
                <a:cs typeface="맑은 고딕"/>
              </a:rPr>
              <a:t>knock.c — knock_init()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E2E8F0"/>
                </a:solidFill>
                <a:latin typeface="Consolas"/>
                <a:ea typeface="맑은 고딕"/>
                <a:cs typeface="맑은 고딕"/>
              </a:rPr>
              <a:t>ACSR = (1 &lt;&lt; ACBG) | (1 &lt;&lt; ACIC);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E2E8F0"/>
                </a:solidFill>
                <a:latin typeface="Consolas"/>
                <a:ea typeface="맑은 고딕"/>
                <a:cs typeface="맑은 고딕"/>
              </a:rPr>
              <a:t>  ACBG=1 : 내부 1.1V 밴드갭을 양극 입력으로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E2E8F0"/>
                </a:solidFill>
                <a:latin typeface="Consolas"/>
                <a:ea typeface="맑은 고딕"/>
                <a:cs typeface="맑은 고딕"/>
              </a:rPr>
              <a:t>  ACIC=1 : 비교기 출력을 Timer1 입력 캡처에 직결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E2E8F0"/>
                </a:solidFill>
                <a:latin typeface="Consolas"/>
                <a:ea typeface="맑은 고딕"/>
                <a:cs typeface="맑은 고딕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E2E8F0"/>
                </a:solidFill>
                <a:latin typeface="Consolas"/>
                <a:ea typeface="맑은 고딕"/>
                <a:cs typeface="맑은 고딕"/>
              </a:rPr>
              <a:t>TCCR1A = 0;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E2E8F0"/>
                </a:solidFill>
                <a:latin typeface="Consolas"/>
                <a:ea typeface="맑은 고딕"/>
                <a:cs typeface="맑은 고딕"/>
              </a:rPr>
              <a:t>TCCR1B = (1 &lt;&lt; ICNC1) | (1 &lt;&lt; CS11);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E2E8F0"/>
                </a:solidFill>
                <a:latin typeface="Consolas"/>
                <a:ea typeface="맑은 고딕"/>
                <a:cs typeface="맑은 고딕"/>
              </a:rPr>
              <a:t>  ICNC1=1 : 노이즈 캔슬러 (4표본 연속 일치)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E2E8F0"/>
                </a:solidFill>
                <a:latin typeface="Consolas"/>
                <a:ea typeface="맑은 고딕"/>
                <a:cs typeface="맑은 고딕"/>
              </a:rPr>
              <a:t>  ICES1=0 : 하강 에지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E2E8F0"/>
                </a:solidFill>
                <a:latin typeface="Consolas"/>
                <a:ea typeface="맑은 고딕"/>
                <a:cs typeface="맑은 고딕"/>
              </a:rPr>
              <a:t>            평상시 ACO=1, 노크 시 0 으로 하강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E2E8F0"/>
                </a:solidFill>
                <a:latin typeface="Consolas"/>
                <a:ea typeface="맑은 고딕"/>
                <a:cs typeface="맑은 고딕"/>
              </a:rPr>
              <a:t>  CS11=1  : 분주 /8 -&gt; 500ns 분해능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E2E8F0"/>
                </a:solidFill>
                <a:latin typeface="Consolas"/>
                <a:ea typeface="맑은 고딕"/>
                <a:cs typeface="맑은 고딕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E2E8F0"/>
                </a:solidFill>
                <a:latin typeface="Consolas"/>
                <a:ea typeface="맑은 고딕"/>
                <a:cs typeface="맑은 고딕"/>
              </a:rPr>
              <a:t>TIMSK1 = (1 &lt;&lt; ICIE1) | (1 &lt;&lt; TOIE1);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508760"/>
            <a:ext cx="5074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>ADC 폴링의 문제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검출 시각이 샘플링 주기만큼 양자화된다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인터럽트 지연이 그대로 측정값에 섞인다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OLED·EEPROM 접근 중에는 표본이 빈다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047857"/>
                </a:solidFill>
                <a:latin typeface="맑은 고딕"/>
                <a:ea typeface="맑은 고딕"/>
                <a:cs typeface="맑은 고딕"/>
              </a:rPr>
              <a:t>입력 캡처의 이점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ICR1 래치가 하드웨어에서 일어난다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ISR 이 늦게 실행되어도 시각은 흔들리지 않는다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ICNC1 의 4클럭 지연은 모든 노크에 동일하게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 적용되는 상수라 간격에는 영향이 없다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5074920"/>
            <a:ext cx="10881360" cy="77724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5175504"/>
            <a:ext cx="10479024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기존 PEDD 프로젝트에서 검증한 구조를 계승했다. 다만 방전 방향이 반대라 에지 방향이 다르다 — pedd.c 는 상승, knock.c 는 하강.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설계 2 — 압전 링잉을 어떻게 걸러내는가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8778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한 번의 타격에 소자와 부착면이 수 ms 동안 공진한다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0" y="2560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설계 및 실험 과정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1088136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증상</a:t>
            </a:r>
          </a:p>
          <a:p>
            <a:pPr algn="l" lvl="1">
              <a:spcAft>
                <a:spcPts val="500"/>
              </a:spcAft>
            </a:pPr>
            <a:r>
              <a:rPr sz="135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노크 1회가 이벤트 3~5회로 잡혀 간격 벡터가 통째로 무너진다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대책 (2중)</a:t>
            </a:r>
          </a:p>
          <a:p>
            <a:pPr algn="l" lvl="1">
              <a:spcAft>
                <a:spcPts val="500"/>
              </a:spcAft>
            </a:pPr>
            <a:r>
              <a:rPr sz="135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하드웨어 — ICNC1 노이즈 캔슬러가 문턱 근처의 비교기 채터링을 4표본 일치 조건으로 거른다</a:t>
            </a:r>
          </a:p>
          <a:p>
            <a:pPr algn="l" lvl="1">
              <a:spcAft>
                <a:spcPts val="500"/>
              </a:spcAft>
            </a:pPr>
            <a:r>
              <a:rPr sz="135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소프트웨어 — 첫 검출 후 50ms 동안의 추가 에지는 같은 노크의 잔향으로 보고 버린다 (불응기)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불응기 값의 근거</a:t>
            </a:r>
          </a:p>
          <a:p>
            <a:pPr algn="l" lvl="1">
              <a:spcAft>
                <a:spcPts val="500"/>
              </a:spcAft>
            </a:pPr>
            <a:r>
              <a:rPr sz="135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50ms 는 초당 20회까지 허용하므로 사람이 두드리는 속도에 충분하다. 최종값은 실험 1에서 UART 로그의 실제 간격 분포를 보고 확정한다.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3794760"/>
            <a:ext cx="5212080" cy="1143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3886200"/>
            <a:ext cx="491947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A78BFA"/>
                </a:solidFill>
                <a:latin typeface="맑은 고딕"/>
                <a:ea typeface="맑은 고딕"/>
                <a:cs typeface="맑은 고딕"/>
              </a:rPr>
              <a:t>knock.c — TIMER1_CAPT_vect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E2E8F0"/>
                </a:solidFill>
                <a:latin typeface="Consolas"/>
                <a:ea typeface="맑은 고딕"/>
                <a:cs typeface="맑은 고딕"/>
              </a:rPr>
              <a:t>if ((uint32_t)(now - g_last_ts) &lt; BLANK_TICKS) {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E2E8F0"/>
                </a:solidFill>
                <a:latin typeface="Consolas"/>
                <a:ea typeface="맑은 고딕"/>
                <a:cs typeface="맑은 고딕"/>
              </a:rPr>
              <a:t>    return;          /* 잔향 — 버린다 */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E2E8F0"/>
                </a:solidFill>
                <a:latin typeface="Consolas"/>
                <a:ea typeface="맑은 고딕"/>
                <a:cs typeface="맑은 고딕"/>
              </a:rPr>
              <a:t>}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E2E8F0"/>
                </a:solidFill>
                <a:latin typeface="Consolas"/>
                <a:ea typeface="맑은 고딕"/>
                <a:cs typeface="맑은 고딕"/>
              </a:rPr>
              <a:t>g_last_ts = now;     /* 받아들인 에지만 기준을 갱신 */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5166360"/>
            <a:ext cx="10881360" cy="822960"/>
          </a:xfrm>
          <a:prstGeom prst="rect">
            <a:avLst/>
          </a:prstGeom>
          <a:solidFill>
            <a:srgbClr val="FFFBEB"/>
          </a:solidFill>
          <a:ln w="12700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5266944"/>
            <a:ext cx="1047902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713F12"/>
                </a:solidFill>
                <a:latin typeface="맑은 고딕"/>
                <a:ea typeface="맑은 고딕"/>
                <a:cs typeface="맑은 고딕"/>
              </a:rPr>
              <a:t>설계 주의 — 버린 에지로는 기준 시각을 갱신하지 않는다. 갱신하면 잔향이 이어지는 동안 불응기가 무한히 연장되어 다음 노크를 놓친다.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설계 3 — 템포 정규화 (이게 없으면 본인도 못 연다)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8778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절대 간격으로 비교하면 조금만 빨리 쳐도 전부 거부된다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0" y="2560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난이도 · 알고리즘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691640"/>
          <a:ext cx="10881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38404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간격 벡터 (ms)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정규화 지문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등록한 리듬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[200, 400, 200]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[250, 500, 250]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7C3AE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1.5배 느리게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[300, 600, 300]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[250, 500, 250]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7C3AE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통과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2배 빠르게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[100, 200, 100]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[250, 500, 250]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7C3AE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다른 리듬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[200, 200, 400]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[250, 250, 500]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거부 (d²=125,000)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85800" y="3794760"/>
            <a:ext cx="6766560" cy="21488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3886200"/>
            <a:ext cx="6473952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A78BFA"/>
                </a:solidFill>
                <a:latin typeface="맑은 고딕"/>
                <a:ea typeface="맑은 고딕"/>
                <a:cs typeface="맑은 고딕"/>
              </a:rPr>
              <a:t>knockfp.c — knockfp_make()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E2E8F0"/>
                </a:solidFill>
                <a:latin typeface="Consolas"/>
                <a:ea typeface="맑은 고딕"/>
                <a:cs typeface="맑은 고딕"/>
              </a:rPr>
              <a:t>/* 전 구간 32비트 정수. float 미사용 */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E2E8F0"/>
                </a:solidFill>
                <a:latin typeface="Consolas"/>
                <a:ea typeface="맑은 고딕"/>
                <a:cs typeface="맑은 고딕"/>
              </a:rPr>
              <a:t>while (total &gt; KNOCKFP_SHIFT_LIMIT) {   /* 오버플로 방지 */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E2E8F0"/>
                </a:solidFill>
                <a:latin typeface="Consolas"/>
                <a:ea typeface="맑은 고딕"/>
                <a:cs typeface="맑은 고딕"/>
              </a:rPr>
              <a:t>    total = 0;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E2E8F0"/>
                </a:solidFill>
                <a:latin typeface="Consolas"/>
                <a:ea typeface="맑은 고딕"/>
                <a:cs typeface="맑은 고딕"/>
              </a:rPr>
              <a:t>    for (k = 0; k &lt; CLASSIFY_CHANNELS; k++) {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E2E8F0"/>
                </a:solidFill>
                <a:latin typeface="Consolas"/>
                <a:ea typeface="맑은 고딕"/>
                <a:cs typeface="맑은 고딕"/>
              </a:rPr>
              <a:t>        g[k] &gt;&gt;= 1;      /* 동일 배율 -&gt; 비율 보존 */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E2E8F0"/>
                </a:solidFill>
                <a:latin typeface="Consolas"/>
                <a:ea typeface="맑은 고딕"/>
                <a:cs typeface="맑은 고딕"/>
              </a:rPr>
              <a:t>        total += g[k];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E2E8F0"/>
                </a:solidFill>
                <a:latin typeface="Consolas"/>
                <a:ea typeface="맑은 고딕"/>
                <a:cs typeface="맑은 고딕"/>
              </a:rPr>
              <a:t>    }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E2E8F0"/>
                </a:solidFill>
                <a:latin typeface="Consolas"/>
                <a:ea typeface="맑은 고딕"/>
                <a:cs typeface="맑은 고딕"/>
              </a:rPr>
              <a:t>}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E2E8F0"/>
                </a:solidFill>
                <a:latin typeface="Consolas"/>
                <a:ea typeface="맑은 고딕"/>
                <a:cs typeface="맑은 고딕"/>
              </a:rPr>
              <a:t>fp-&gt;n[k] = (uint16_t)((g[k] * CLASSIFY_NORM_SUM) / total);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3886200"/>
            <a:ext cx="3840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부동소수점을 쓰지 않는 이유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AVR 은 FPU 가 없어 소프트 FP 라이브러리가 링크된다 (1.5~3KB)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정수 나눗셈 3회로 끝나므로 8비트 MCU 에서도 가볍다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판정은 기존 classify_match() 를 한 줄도 고치지 않고 재사용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설계 4 — 임계값을 손으로 정하지 않는다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8778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사용자 본인의 재현성에서 허용 반경을 유도한다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0" y="2560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완성도 · 최적화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1088136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방법</a:t>
            </a:r>
          </a:p>
          <a:p>
            <a:pPr algn="l" lvl="1">
              <a:spcAft>
                <a:spcPts val="500"/>
              </a:spcAft>
            </a:pPr>
            <a:r>
              <a:rPr sz="135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등록 시 같은 리듬을 5회 반복 입력받는다</a:t>
            </a:r>
          </a:p>
          <a:p>
            <a:pPr algn="l" lvl="1">
              <a:spcAft>
                <a:spcPts val="500"/>
              </a:spcAft>
            </a:pPr>
            <a:r>
              <a:rPr sz="135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평균 = 중심점, (표본들이 중심점에서 벗어난 최대 제곱거리) × 2 = 임계값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효과</a:t>
            </a:r>
          </a:p>
          <a:p>
            <a:pPr algn="l" lvl="1">
              <a:spcAft>
                <a:spcPts val="500"/>
              </a:spcAft>
            </a:pPr>
            <a:r>
              <a:rPr sz="135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리듬이 일정한 사람은 좁게, 들쭉날쭉한 사람은 넓게 잡힌다 — 오거부(FRR)를 줄이면서도 필요 이상으로 헐거워지지 않는다</a:t>
            </a:r>
          </a:p>
          <a:p>
            <a:pPr algn="l" lvl="1">
              <a:spcAft>
                <a:spcPts val="500"/>
              </a:spcAft>
            </a:pPr>
            <a:r>
              <a:rPr sz="135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흩어짐이 상한(20,000)을 넘으면 등록 자체를 거부한다. 무리하게 넓혀 저장하면 타인도 함께 통과하기 때문이다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160520"/>
            <a:ext cx="10881360" cy="169164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4261104"/>
            <a:ext cx="10479024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개발 중 단위 테스트가 잡아낸 결함 — 임계값 상한이 60,000 이었을 때, (250,500,250) 과 (333,333,333) 처럼 명백히 다른 리듬의 제곱거리(41,667)가 상한 안에 들어와 통과했다.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지문의 세 성분 합이 1,000 이므로 임계값의 제곱근이 곧 허용 반경이다. 20,000 (반경 141 ≈ 성분당 8%) 로 낮추고 회귀 테스트를 추가했다.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최종값은 실험 3·4 의 FRR/FAR 곡선을 보고 확정한다.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설계 5 — 예외적 경우에 대한 대비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8778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잠금장치는 정상 동작보다 비정상 상황에서의 거동이 중요하다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0" y="2560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완성도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691640"/>
          <a:ext cx="1088136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3788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공격 / 상황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대비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7C3AE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틀릴 때마다 전원을 뽑아 실패 카운터 초기화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7C3AE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카운터를 EEPROM 에 두고, 평가하기 전에 먼저 증가시킨다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카운터 기록 중 전원 차단으로 값 손상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값과 보수를 함께 저장. 어긋나면 최대 실패로 간주 (fail-closed)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대기 화면에서 아무나 등록을 덮어씀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재등록은 인증 성공 직후에만 허용 (미등록 상태만 예외)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응답 시간 차이로 순서를 한 자리씩 추측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조기 반환 없이 항상 전 슬롯·전 자릿수를 비교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잠금이 영구화되어 장치가 벽돌이 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5회 실패 → 30초 대기. 대기를 채우면 카운터가 0 으로 복귀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공장 출하 EEPROM(전 바이트 0xFF)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손상이 아닌 미사용으로 구분 — 새 칩이 잠금 화면부터 뜨지 않게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소프트웨어 구조와 재사용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2560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난이도 · 하드웨어/SW 배분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8136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788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모듈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상태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classify.c / i2c.c / ssd1306.c / uart.c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무수정 재사용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정수 분류기, TWI 마스터, OLED, UART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7C3AE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knock.c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7C3AE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 (pedd.c 계승)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7C3AE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비교기 + Timer1 캡처로 노크 시각·진폭 측정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7C3AE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knockfp.c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7C3AE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7C3AE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템포 정규화 지문. 하드웨어 비의존 — PC 단위 테스트 대상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keypad.c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 (button.c 확장)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4키 디바운스, 짧게/길게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timebase.c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Timer0 1ms 시각 + Idle 슬립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7C3AE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authstore.c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7C3AE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 (store.c 계승)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7C3AE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등록 정보 + 비휘발성 실패 카운터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85800" y="4892040"/>
            <a:ext cx="10881360" cy="1143000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4992624"/>
            <a:ext cx="10479024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47857"/>
                </a:solidFill>
                <a:latin typeface="맑은 고딕"/>
                <a:ea typeface="맑은 고딕"/>
                <a:cs typeface="맑은 고딕"/>
              </a:rPr>
              <a:t>검증 — avr-gcc 로 -Wall -Wextra -Werror 빌드 경고 0. knockfp / classify 는 avr-gdb 내장 AVR 시뮬레이터에서 실제로 실행해 26개 검사를 통과시켰다 (tools/run_tests.sh).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047857"/>
                </a:solidFill>
                <a:latin typeface="맑은 고딕"/>
                <a:ea typeface="맑은 고딕"/>
                <a:cs typeface="맑은 고딕"/>
              </a:rPr>
              <a:t>PC 용 C 컴파일러가 없는 환경이라 테스트도 ATmega328P 코드로 빌드해 시뮬레이터 위에서 돌린다.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실험 계획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2560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요강 4-가-2 · 4-가-3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381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목적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방법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 기준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피에조 특성 · 파라미터 확정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세기를 바꿔가며 ADC 값과 링잉 파형 기록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불응기(ms)와 진폭 게이트 확정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1단계 단독 검증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정답/오답 순서 각각 입력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정답만 통과, 오답은 전부 거부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리듬 재현성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같은 사용자가 동일 리듬 30회 이상 반복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제곱거리 분포에서 FRR 산출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7C3AE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7C3AE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2FA 효과 실증 (핵심)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7C3AE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순서를 알려준 제3자 3명이 소리를 듣고 모방, 각 20회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7C3AE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FAR 산출 — 순서를 알아도 거부되는 비율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예외 상황 대비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임계값 경계 반복, 인증 중 전원 차단, 재등록 시도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재시도 제한·잠금·안내가 설계대로 동작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85800" y="5074920"/>
            <a:ext cx="10881360" cy="1051560"/>
          </a:xfrm>
          <a:prstGeom prst="rect">
            <a:avLst/>
          </a:prstGeom>
          <a:solidFill>
            <a:srgbClr val="FFFBEB"/>
          </a:solidFill>
          <a:ln w="12700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5175504"/>
            <a:ext cx="10479024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713F12"/>
                </a:solidFill>
                <a:latin typeface="맑은 고딕"/>
                <a:ea typeface="맑은 고딕"/>
                <a:cs typeface="맑은 고딕"/>
              </a:rPr>
              <a:t>데이터는 전부 UART CSV 로 자동 수집된다 — seq,mode,pin_user,knock_user,d2,thr,n0..n2,g0..g2ms,a0..a3,result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713F12"/>
                </a:solidFill>
                <a:latin typeface="맑은 고딕"/>
                <a:ea typeface="맑은 고딕"/>
                <a:cs typeface="맑은 고딕"/>
              </a:rPr>
              <a:t>실험 3·4 의 FRR/FAR 은 result 열을 세면 그대로 나오고, d2 열로 임계값 곡선(ROC)을 그린다.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실험 결과 3 — 리듬 재현성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2560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실측 후 작성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10881360" cy="4206240"/>
          </a:xfrm>
          <a:prstGeom prst="rect">
            <a:avLst/>
          </a:prstGeom>
          <a:solidFill>
            <a:srgbClr val="FEF2F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92224"/>
            <a:ext cx="10479024" cy="400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>[측정 후 이 상자를 교체]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>· 넣을 것 1 — 동일 사용자 30회 반복의 제곱거리 히스토그램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>· 넣을 것 2 — 정규화 성분 n0/n1/n2 의 평균과 변동계수(CV) 표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>· 넣을 것 3 — 임계값을 바꿔가며 그린 FRR 곡선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>· 서술할 것 — 자동 유도된 임계값이 실제 분포와 얼마나 맞았는지,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>  맞지 않았다면 THRESHOLD_MARGIN 을 어떻게 조정했는지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>데이터 출처: UART 로그의 mode=AUTH 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실험 결과 4 — 타인 모사 시도 (2FA 효과 실증)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2560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실측 후 작성 · 핵심 슬라이드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10881360" cy="4206240"/>
          </a:xfrm>
          <a:prstGeom prst="rect">
            <a:avLst/>
          </a:prstGeom>
          <a:solidFill>
            <a:srgbClr val="FEF2F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92224"/>
            <a:ext cx="10479024" cy="400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>[측정 후 이 상자를 교체 — 이 작품의 주장을 증명하는 유일한 장이다]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>· 넣을 것 1 — 조건별 통과율 막대그래프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>    (a) 본인          (b) 순서만 아는 타인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>    (c) 리듬만 흉내낸 타인   (d) 둘 다 시도한 타인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>· 넣을 것 2 — FAR / FRR 표 (시도 횟수와 함께)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>· 넣을 것 3 — 본인과 타인의 제곱거리 분포 산점도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>· 서술할 것 — '순서가 노출되어도 뚫리지 않는다'가 몇 %의 근거로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>  뒷받침되는지. 뚫린 사례가 있다면 그 조건도 함께 밝힐 것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메모리 사용량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2560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요강 4-가-6 · 경제성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63040"/>
          <a:ext cx="108813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4114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사용량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용량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비율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7C3AE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Flash (프로그램)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7C3AE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8,908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7C3AE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32,768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7C3AE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27.2 %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7C3AE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SRAM (데이터)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7C3AE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110 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7C3AE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2,048 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7C3AE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5.4 %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EEPROM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40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1,024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3.9 %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32461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절감 근거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부동소수점 미사용 — 소프트 FP 라이브러리(1.5~3KB)가 링크되지 않음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OLED 프레임버퍼 미사용 — 페이지 주소 모드로 직접 기록 (1,024B = SRAM 절반을 절약)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화면 문구를 전부 PSTR() 로 Flash 에 상주 — SRAM 복사 회피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617720"/>
            <a:ext cx="10881360" cy="1234440"/>
          </a:xfrm>
          <a:prstGeom prst="rect">
            <a:avLst/>
          </a:prstGeom>
          <a:solidFill>
            <a:srgbClr val="FEF2F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4718304"/>
            <a:ext cx="10479024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>[제출 전 교체] Microchip Studio 빌드 출력창 캡처를 여기에 붙일 것.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>요강 4-가-6 이 '화면 캡처'를 명시하므로 위 표만으로는 부족하다.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>Studio 의 Output 창 하단에 Program Memory / Data Memory Usage 가 나온다.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부품 가격표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2560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요강 4-가-7 · 경제성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325880"/>
          <a:ext cx="1088136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3560"/>
                <a:gridCol w="1813560"/>
                <a:gridCol w="1813560"/>
                <a:gridCol w="1813560"/>
                <a:gridCol w="1813560"/>
                <a:gridCol w="1813560"/>
              </a:tblGrid>
              <a:tr h="3759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품목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사양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수량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단가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금액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ATmega328P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28-pin PDIP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요강 허용 MCU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압전 디스크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피에조 진동 센서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노크 검출 핵심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택트 스위치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순서 입력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I2C OLED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0.96" SSD1306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상태 표시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1MΩ·1kΩ·330Ω·10kΩ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각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블리드·보호·풀업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다이오드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1N4148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 클램프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수정 진동자 + 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16MHz + 22pF×2 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보드 사용 시 불필요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7C3AE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7C3AE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(기입)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7C3AE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브레드보드 별도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85800" y="5394960"/>
            <a:ext cx="10881360" cy="1188720"/>
          </a:xfrm>
          <a:prstGeom prst="rect">
            <a:avLst/>
          </a:prstGeom>
          <a:solidFill>
            <a:srgbClr val="FFFBEB"/>
          </a:solidFill>
          <a:ln w="12700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5495544"/>
            <a:ext cx="10479024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713F12"/>
                </a:solidFill>
                <a:latin typeface="맑은 고딕"/>
                <a:ea typeface="맑은 고딕"/>
                <a:cs typeface="맑은 고딕"/>
              </a:rPr>
              <a:t>작성 지침 — 요강 3-라(경제성)는 시스템 전체 부품 원가를 본다. 기보유품도 시장가로 함께 적고, 단가는 실제 구매 영수증 기준으로 채울 것.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713F12"/>
                </a:solidFill>
                <a:latin typeface="맑은 고딕"/>
                <a:ea typeface="맑은 고딕"/>
                <a:cs typeface="맑은 고딕"/>
              </a:rPr>
              <a:t>개발보드 대신 ATmega328P 단품 구성으로 가면 보드·크리스탈이 빠져 총원가가 더 내려가고, 요강 2-가-3 의 'Custom 보드' 가산도 노릴 수 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계획했으나 해결하지 못한 부분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8778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감점 항목이 아니라 요강이 명시적으로 요구하는 제출 항목이다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0" y="2560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요강 4-가-5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69164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1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현재 상태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원인 / 향후 계획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노크 위치 분류 (피에조 2개)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미구현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진폭비로 타격 구역을 나누면 버튼 없이 '보이지 않는 키패드'가 된다. 도달 시간차(TDOA)는 328P 의 비교기가 1개뿐이라 불가.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Power-down 저전력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Idle 모드까지만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Power-down 에서는 비교기가 정지해 노크를 감지할 수 없다. 버튼 기상 후 노크를 받는 2단 구조가 필요.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다중 사용자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슬롯 3개 구현, 검증 부족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EEPROM 여유는 충분하나 등록 UI 와 사용자 간 오인식 검증이 남음.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임계값 상한의 실측 근거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설계값(20,000)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실험 3·4 데이터로 확정 예정. 현재 값은 기하학적 계산에 근거.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가변 문턱 (PWM DAC)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미구현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Timer2 PWM + RC 로 1핀 DAC 를 만들면 문턱을 코드로 조절 가능. 현재는 ADC 진폭 게이트로 대체.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결론 및 기대효과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8813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성과</a:t>
            </a:r>
          </a:p>
          <a:p>
            <a:pPr algn="l" lvl="1">
              <a:spcAft>
                <a:spcPts val="500"/>
              </a:spcAft>
            </a:pPr>
            <a:r>
              <a:rPr sz="135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추가 부품 1개로 '지식 + 행동' 이중 인증을 구현했다. 지문 모듈 대비 원가가 압도적으로 낮다.</a:t>
            </a:r>
          </a:p>
          <a:p>
            <a:pPr algn="l" lvl="1">
              <a:spcAft>
                <a:spcPts val="500"/>
              </a:spcAft>
            </a:pPr>
            <a:r>
              <a:rPr sz="135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Arduino 라이브러리 없이 비교기·타이머 캡처·ADC·EEPROM·I2C·슬립을 전부 레지스터로 직접 제어했다.</a:t>
            </a:r>
          </a:p>
          <a:p>
            <a:pPr algn="l" lvl="1">
              <a:spcAft>
                <a:spcPts val="500"/>
              </a:spcAft>
            </a:pPr>
            <a:r>
              <a:rPr sz="135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측정 정밀도를 하드웨어(입력 캡처)에, 판정 로직을 소프트웨어(정수 분류기)에 배분해 8비트 MCU 에서 Flash 27% 로 동작한다.</a:t>
            </a:r>
          </a:p>
          <a:p>
            <a:pPr algn="l" lvl="1">
              <a:spcAft>
                <a:spcPts val="500"/>
              </a:spcAft>
            </a:pPr>
            <a:r>
              <a:rPr sz="135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단순한 아이디어 제시에 그치지 않고 타인 모사 실험으로 2FA 효과를 정량 증명한다.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확장</a:t>
            </a:r>
          </a:p>
          <a:p>
            <a:pPr algn="l" lvl="1">
              <a:spcAft>
                <a:spcPts val="500"/>
              </a:spcAft>
            </a:pPr>
            <a:r>
              <a:rPr sz="135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피에조 2개로 타격 위치까지 분류하면 버튼이 사라지고 표면 전체가 입력 장치가 된다 — 외부에 드러나는 조작부가 없는 잠금장치.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486400"/>
            <a:ext cx="10881360" cy="77724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5586984"/>
            <a:ext cx="10479024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이 작품의 한 문장 — '순서를 안다고 해도, 그 순서를 두드리는 리듬까지 똑같이 재현하기는 어렵다.'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